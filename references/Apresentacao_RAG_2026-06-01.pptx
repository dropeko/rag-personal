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0C9A8"/>
                </a:solidFill>
                <a:latin typeface="Calibri"/>
              </a:rPr>
              <a:t>SPRINT — ANÁLISE TÉCNICA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ChromaDB local vs OpenAI Embeddings +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0" i="1">
                <a:solidFill>
                  <a:srgbClr val="E0DED0"/>
                </a:solidFill>
                <a:latin typeface="Calibri"/>
              </a:rPr>
              <a:t>Stack de RAG para geração de relatórios técnicos de inspeção industrial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ISQ Brasil — NIT-Dev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E0DED0"/>
                </a:solidFill>
                <a:latin typeface="Calibri"/>
              </a:rPr>
              <a:t>Sprint encerrada em 2026-06-01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Roteiro da apresentação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1. Contexto, escopo e restrições da sprint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2. Stack atual ("ml_wo") e mapa do código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3. Corpus real — descobertas ao inspecionar o sqlite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4. Bug detectado: mismatch entre indexação e query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5. Ingestão contínua como requisito novo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6. Opções de stack avaliadas (A, B, C)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7. Custos — embedding, query e LLM gerador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8. Latência — estimativa e medição real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9. Resultados reais do bench (Chroma HNSW + TF-IDF baseline)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10. Onde o neural deve ganhar — breakdown por tipo de query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11. Proposta de stack, critérios Go/No-Go e riscos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>
                <a:solidFill>
                  <a:srgbClr val="C84A1E"/>
                </a:solidFill>
                <a:latin typeface="Calibri"/>
              </a:rPr>
              <a:t>▸  </a:t>
            </a:r>
            <a:r>
              <a:rPr sz="1800">
                <a:solidFill>
                  <a:srgbClr val="232A33"/>
                </a:solidFill>
                <a:latin typeface="Calibri"/>
              </a:rPr>
              <a:t>12. Restrição de ambiente, TL;DR e 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1.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Contexto e escopo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84A1E"/>
                </a:solidFill>
                <a:latin typeface="Calibri"/>
              </a:rPr>
              <a:t>▸  </a:t>
            </a:r>
            <a:r>
              <a:rPr sz="1500">
                <a:solidFill>
                  <a:srgbClr val="232A33"/>
                </a:solidFill>
                <a:latin typeface="Calibri"/>
              </a:rPr>
              <a:t>Domínio: relatórios técnicos de inspeção industrial — Análise de Falhas em equipamentos PETROBRÁS (válvulas, permutadores, vasos, cilindros).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84A1E"/>
                </a:solidFill>
                <a:latin typeface="Calibri"/>
              </a:rPr>
              <a:t>▸  </a:t>
            </a:r>
            <a:r>
              <a:rPr sz="1500">
                <a:solidFill>
                  <a:srgbClr val="232A33"/>
                </a:solidFill>
                <a:latin typeface="Calibri"/>
              </a:rPr>
              <a:t>Demanda da sprint: comparar ChromaDB local (abordagem ml_wo) vs OpenAI Embeddings + API. Documentar custos, latência e viabilidade. Definir stack.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84A1E"/>
                </a:solidFill>
                <a:latin typeface="Calibri"/>
              </a:rPr>
              <a:t>▸  </a:t>
            </a:r>
            <a:r>
              <a:rPr sz="1500">
                <a:solidFill>
                  <a:srgbClr val="232A33"/>
                </a:solidFill>
                <a:latin typeface="Calibri"/>
              </a:rPr>
              <a:t>Escopo expandido durante a análise: RAG ponta-a-ponta (embedding + vector store + LLM gerador) + pipeline de ingestão contínua.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0F2A4A"/>
                </a:solidFill>
                <a:latin typeface="Calibri"/>
              </a:rPr>
              <a:t>Restrições confirmadas com o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206240"/>
            <a:ext cx="5486400" cy="91440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206240"/>
            <a:ext cx="73152" cy="91440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5166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51663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Corpus médio (10k–500k chunks na projeção).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12080"/>
            <a:ext cx="5486400" cy="91440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212080"/>
            <a:ext cx="73152" cy="91440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5166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PRIVACIDADE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77840"/>
            <a:ext cx="51663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Dados de cliente/laudo. OpenAI permitido com DPA + ZDR + mascaramento.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206240"/>
            <a:ext cx="5486400" cy="91440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4206240"/>
            <a:ext cx="73152" cy="91440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297680"/>
            <a:ext cx="5166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572000"/>
            <a:ext cx="51663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Inclui escolha do LLM gerador.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5212080"/>
            <a:ext cx="5486400" cy="91440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5212080"/>
            <a:ext cx="73152" cy="91440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303520"/>
            <a:ext cx="5166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TIME DE 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577840"/>
            <a:ext cx="51663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NÃO participa da curadoria de bench em paralelo.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2. STACK ATUAL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Stack atual ("ml_wo")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5050"/>
                <a:gridCol w="599313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Camada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Implementação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Onde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Embedding (query)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Xenova/paraphrase-multilingual-mpnet-base-v2 (vanilla, ONNX em 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chroma.service.ts:97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Embedding (index)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models/fine_tuned_report_model (sentence-transformer fine-tunado)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metadata do chroma.sqlite3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Vector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ChromaDB v1.x persistente (FastAPI/uvicorn)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apps/chroma-server/server.py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Cliente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chromadb (JS) no NestJS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apps/db-backend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LLM gerador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Não definido — apenas template DOCX preenchido por estrutura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120640"/>
            <a:ext cx="11064240" cy="118872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5120640"/>
            <a:ext cx="73152" cy="118872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744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PONTOS A OBSERVAR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86400"/>
            <a:ext cx="107442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• Embedding roda no processo Node — cold start ~2–5s na 1ª query, ruim p/ throughput em batch.
• Chroma local depende de uvicorn separado — acoplamento operacional não trivial.
• MPNet vanilla é de 2021 — modelos mais novos (v3, BGE-m3, e5) superam em benchmarks recentes.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3. DESCOBERTA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Corpus real — inspeção direta no chroma.sqlite3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502920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Coleção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Chunks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Conteúdo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 relatório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32A33"/>
                          </a:solidFill>
                          <a:latin typeface="Calibri"/>
                        </a:rPr>
                        <a:t>report_texts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Seção "DISCUSSÃO DOS RESULTADOS"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1 chunk / laudo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32A33"/>
                          </a:solidFill>
                          <a:latin typeface="Calibri"/>
                        </a:rPr>
                        <a:t>metallography_captions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7.943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Captions de imagens de metalografia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~100 / laudo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32A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8.021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657600"/>
            <a:ext cx="5486400" cy="256032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657600"/>
            <a:ext cx="73152" cy="256032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749040"/>
            <a:ext cx="5166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CARACTERIZAÇÃO TÉCNICA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5166360" cy="2103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• 78 relatórios distintos — 100 % Análise de Falha (AF).
• Cliente predominante: PETROBRÁS COMPARTILHADO.
• Tipos: Caldeira, Permutador, Vaso Separador, Válvula, Eixo, Cilindro, Tubos…
• Chunk médio em report_texts: ≈ 400 tokens (1.600 chars).
• Premissa do bench validada empiricamente.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657600"/>
            <a:ext cx="5486400" cy="256032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3657600"/>
            <a:ext cx="73152" cy="2560320"/>
          </a:xfrm>
          <a:prstGeom prst="rect">
            <a:avLst/>
          </a:prstGeom>
          <a:solidFill>
            <a:srgbClr val="2A6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749040"/>
            <a:ext cx="5166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2A6E39"/>
                </a:solidFill>
                <a:latin typeface="Calibri"/>
              </a:rPr>
              <a:t>IMPLICAÇÃO P/ A DECISÃO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023360"/>
            <a:ext cx="5166360" cy="2103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Corpus pequeno em volume, denso em jargão de engenharia.
Desafio do RAG aqui é PRECISÃO SEMÂNTICA em terminologia de inspeção — não é escala.
Custo de qualquer embedding é irrelevante: &lt; US$ 0.40 reindexa tudo no text-embedding-3-large.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4. ⚠️ DESCOBERTA CRÍTICA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Bug detectado — mismatch entre indexação e query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03520" cy="128016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F2A4A"/>
                </a:solidFill>
                <a:latin typeface="Calibri"/>
              </a:rPr>
              <a:t>INDEXAÇÃO (chroma.sqlite3)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232A33"/>
                </a:solidFill>
                <a:latin typeface="Calibri"/>
              </a:rPr>
              <a:t>models/fine_tuned_report_model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6C737D"/>
                </a:solidFill>
                <a:latin typeface="Calibri"/>
              </a:rPr>
              <a:t>sentence-transformer fine-tunado pelo time, 768 dim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303520" cy="128016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F2A4A"/>
                </a:solidFill>
                <a:latin typeface="Calibri"/>
              </a:rPr>
              <a:t>QUERY (chroma.service.ts:97)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232A33"/>
                </a:solidFill>
                <a:latin typeface="Calibri"/>
              </a:rPr>
              <a:t>Xenova/paraphrase-multilingual-mpnet-base-v2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6C737D"/>
                </a:solidFill>
                <a:latin typeface="Calibri"/>
              </a:rPr>
              <a:t>MPNet vanilla, ONNX em Node, 768 dim</a:t>
            </a:r>
          </a:p>
        </p:txBody>
      </p:sp>
      <p:sp>
        <p:nvSpPr>
          <p:cNvPr id="14" name="Left-Right Arrow 13"/>
          <p:cNvSpPr/>
          <p:nvPr/>
        </p:nvSpPr>
        <p:spPr>
          <a:xfrm>
            <a:off x="5870448" y="2011680"/>
            <a:ext cx="411480" cy="365760"/>
          </a:xfrm>
          <a:prstGeom prst="leftRightArrow">
            <a:avLst/>
          </a:prstGeom>
          <a:solidFill>
            <a:srgbClr val="B04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108960"/>
            <a:ext cx="11064240" cy="146304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108960"/>
            <a:ext cx="73152" cy="1463040"/>
          </a:xfrm>
          <a:prstGeom prst="rect">
            <a:avLst/>
          </a:prstGeom>
          <a:solidFill>
            <a:srgbClr val="B04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00400"/>
            <a:ext cx="10744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B04616"/>
                </a:solidFill>
                <a:latin typeface="Calibri"/>
              </a:rPr>
              <a:t>O QUE ACONTECE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107442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Os dois modelos NÃO produzem o mesmo espaço vetorial. Embeddings de query estão desalinhados dos de indexação. Recall do retrieval atual está DEGRADADO de forma imprevisível, mascarado por funcionar minimamente.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0F2A4A"/>
                </a:solidFill>
                <a:latin typeface="Calibri"/>
              </a:rPr>
              <a:t>Implicações para a sprint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C84A1E"/>
                </a:solidFill>
                <a:latin typeface="Calibri"/>
              </a:rPr>
              <a:t>▸  </a:t>
            </a:r>
            <a:r>
              <a:rPr sz="1300">
                <a:solidFill>
                  <a:srgbClr val="232A33"/>
                </a:solidFill>
                <a:latin typeface="Calibri"/>
              </a:rPr>
              <a:t>Resolver o mismatch ANTES de comparar com OpenAI — caso contrário, baseline está injustamente baixa.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C84A1E"/>
                </a:solidFill>
                <a:latin typeface="Calibri"/>
              </a:rPr>
              <a:t>▸  </a:t>
            </a:r>
            <a:r>
              <a:rPr sz="1300">
                <a:solidFill>
                  <a:srgbClr val="232A33"/>
                </a:solidFill>
                <a:latin typeface="Calibri"/>
              </a:rPr>
              <a:t>fine_tuned_report_model é asset externo do ml_wo — NÃO está no repo. Decisão de produto: manter pipeline de fine-tuning ou descontinuar.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C84A1E"/>
                </a:solidFill>
                <a:latin typeface="Calibri"/>
              </a:rPr>
              <a:t>▸  </a:t>
            </a:r>
            <a:r>
              <a:rPr sz="1300">
                <a:solidFill>
                  <a:srgbClr val="232A33"/>
                </a:solidFill>
                <a:latin typeface="Calibri"/>
              </a:rPr>
              <a:t>Bench passa a ter V1a (status quo, mismatch) vs V1b (vanilla coerente) — isola o efeito do bug.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5. ESCOPO EXPANDIDO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Ingestão contínua — requisito novo identificado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6C737D"/>
                </a:solidFill>
                <a:latin typeface="Calibri"/>
              </a:rPr>
              <a:t>chroma_db_finetune é apenas o banco INICIAL. Em produção, novos laudos serão indexados continuamente.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2834640" cy="64008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27432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F2A4A"/>
                </a:solidFill>
                <a:latin typeface="Calibri"/>
              </a:rPr>
              <a:t>report-generate finaliza DOCX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2194560"/>
            <a:ext cx="2834640" cy="64008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2240280"/>
            <a:ext cx="27432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F2A4A"/>
                </a:solidFill>
                <a:latin typeface="Calibri"/>
              </a:rPr>
              <a:t>fila de ingestão (pg-boss / LISTEN/NOTIFY)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49240" y="2194560"/>
            <a:ext cx="2834640" cy="64008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79" y="2240280"/>
            <a:ext cx="27432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F2A4A"/>
                </a:solidFill>
                <a:latin typeface="Calibri"/>
              </a:rPr>
              <a:t>worker: extract → embed → upsert no Chroma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194560"/>
            <a:ext cx="3017520" cy="64008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2519" y="2240280"/>
            <a:ext cx="292608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F2A4A"/>
                </a:solidFill>
                <a:latin typeface="Calibri"/>
              </a:rPr>
              <a:t>report_texts + metallography_captions atualizadas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3310128" y="2331720"/>
            <a:ext cx="365760" cy="365760"/>
          </a:xfrm>
          <a:prstGeom prst="rtTriangle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Triangle 15"/>
          <p:cNvSpPr/>
          <p:nvPr/>
        </p:nvSpPr>
        <p:spPr>
          <a:xfrm>
            <a:off x="5870448" y="2331720"/>
            <a:ext cx="365760" cy="365760"/>
          </a:xfrm>
          <a:prstGeom prst="rtTriangle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Triangle 16"/>
          <p:cNvSpPr/>
          <p:nvPr/>
        </p:nvSpPr>
        <p:spPr>
          <a:xfrm>
            <a:off x="9162288" y="2331720"/>
            <a:ext cx="365760" cy="365760"/>
          </a:xfrm>
          <a:prstGeom prst="rtTriangle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2461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Ponto de decisão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Recomendação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Sincronia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Assíncrona via fila — SLA ~1 min entre gerar e buscável.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Idempotência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Upsert por id_relatorio — re-roda sem duplicar.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Fila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Reusar Postgres já existente (pg-boss ou LISTEN/NOTIFY). Evita Redis.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Versionamento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Gravar embedding_model_version no metadado de cada chunk.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Custo por laudo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≈ US$ 0.0002 com text-embedding-3-small (Standard API).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Batch API (−50 %)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NÃO serve para online — é assíncrona até 24 h. Só p/ reindex em massa.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6. COMPARATIVO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Opções de stack avaliadas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37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199"/>
                <a:gridCol w="3108959"/>
                <a:gridCol w="2743199"/>
                <a:gridCol w="246888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Opção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Embedding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Vector store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LLM gerador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A — Baseline (atual)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Xenova/MPNet local (ou fine-tuned)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Chroma local (file-based)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A definir (local ou API)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B — OpenAI completo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text-embedding-3-small/large (API)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Chroma local (mesmo store)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OpenAI (4o-mini → 4.1)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C — Híbrida (referencial)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OpenAI v3 (qualidade)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pgvector no Postgres existente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OpenAI ou local (fallback)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114800"/>
            <a:ext cx="11064240" cy="219456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114800"/>
            <a:ext cx="73152" cy="219456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10744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POR QUE C ENTRA NO RADAR MESMO SEM SER A PERGUNTA ORIGINAL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80560"/>
            <a:ext cx="10744200" cy="1737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• Projeto já tem Postgres (libs/db-lib) — pgvector elimina o apps/chroma-server Python e simplifica deploy.
• Vector store deixa de ser dependência operacional separada.
• Permite ingestão continua via transação no MESMO banco onde o laudo é salvo.
• Recomendação prática: começar com B (troca isolada do embedder), evoluir p/ C quando a pipeline de ingestão for implementada.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7.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Custos — embedding e LLM gerador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6C737D"/>
                </a:solidFill>
                <a:latin typeface="Calibri"/>
              </a:rPr>
              <a:t>Custos verificados via OpenAI Pricing em 2026-06-01.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0F2A4A"/>
                </a:solidFill>
                <a:latin typeface="Calibri"/>
              </a:rPr>
              <a:t>Indexação (Standard / Batch −50 %)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48840"/>
          <a:ext cx="110642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651760"/>
                <a:gridCol w="2743200"/>
                <a:gridCol w="274320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$/1M tok (Std/Batch)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Corpus atual ~3M tok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Projeção 1 ano ~13M tok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32A33"/>
                          </a:solidFill>
                          <a:latin typeface="Calibri"/>
                        </a:rPr>
                        <a:t>Xenova MPNet (local)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$0 / 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~30 min CPU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~2 h CPU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32A33"/>
                          </a:solidFill>
                          <a:latin typeface="Calibri"/>
                        </a:rPr>
                        <a:t>text-embedding-3-small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$0.020 / $0.010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$0.06 / $0.03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$0.26 / $0.13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32A33"/>
                          </a:solidFill>
                          <a:latin typeface="Calibri"/>
                        </a:rPr>
                        <a:t>text-embedding-3-large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$0.130 / $0.065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$0.39 / $0.20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$1.69 / $0.85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886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0F2A4A"/>
                </a:solidFill>
                <a:latin typeface="Calibri"/>
              </a:rPr>
              <a:t>LLM gerador (onde mora o custo real)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251960"/>
          <a:ext cx="1106423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39"/>
                <a:gridCol w="1463039"/>
                <a:gridCol w="1463039"/>
                <a:gridCol w="3108959"/>
                <a:gridCol w="2651759"/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$/1M in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$/1M out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 resposta (3k in / 500 out)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10k respostas/mês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32A33"/>
                          </a:solidFill>
                          <a:latin typeface="Calibri"/>
                        </a:rPr>
                        <a:t>gpt-4o-mini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~$0.0008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~$8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32A33"/>
                          </a:solidFill>
                          <a:latin typeface="Calibri"/>
                        </a:rPr>
                        <a:t>gpt-4.1-mini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$0.40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$1.60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~$0.0020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~$20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32A33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~$0.0130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~$130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32A33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$2.00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$8.00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~$0.0100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A33"/>
                          </a:solidFill>
                          <a:latin typeface="Calibri"/>
                        </a:rPr>
                        <a:t>~$100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1">
                <a:solidFill>
                  <a:srgbClr val="C84A1E"/>
                </a:solidFill>
                <a:latin typeface="Calibri"/>
              </a:rPr>
              <a:t>Conclusão: embedding NÃO é critério de decisão. Custo da camada é irrelevante. Decidir LLM primeiro — gpt-4o-mini como baseline.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8.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Viabilidade qualitativa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38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59"/>
                <a:gridCol w="4023360"/>
                <a:gridCol w="3931919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Chroma local + Xenova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OpenAI Embeddings + API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Privacidade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✓ Total (on-prem)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△ DPA + ZDR + mascaramento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Qualidade em PT-BR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△ MPNet de 2021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✓ v3 supera em MTEB/MIRACL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Operação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△ 2 processos + modelo ONNX no Node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✓ 1 processo (pgvector pode reduzir mais)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Cold start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△ 2–5 s (1ª query)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✓ ~0 (SLA OpenAI 99.9 %)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Reprodutibilidade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✓ Modelo versionável 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△ Modelo pode mudar (ada-002 já passou por isso)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Escala (&gt;500k chunks)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△ Chroma sqlite sofre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△ store é o gargalo, não o embedder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Compliance on-prem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✓ Compatível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✗ Pode bloquear contrato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Tempo p/ implementar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Pronto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2–3 dias (troca embeddingFunction + reindex)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9. LATÊNCIA (ESTIMATIVA)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Latência — estimativa por etapa do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91840"/>
                <a:gridCol w="3200400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Operação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Local (Xenova / CPU)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OpenAI (3-small)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Embedding de 1 query (~30 tok)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80–250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60–180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Embedding batch 32 (~12k tok)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1.5–4 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200–500 ms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Query top-k=5 (HNSW, 100k vetores)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10–40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10–40 ms (mesmo store)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Pipeline RAG (embed + search)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120–300 ms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100–250 ms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Resposta LLM (gpt-4o-mini, 3k→500 tok)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1.5–4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Cold start MPNet (1ª query pós-boot)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2–5 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~0 (warm)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5029200"/>
            <a:ext cx="73152" cy="128016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20640"/>
            <a:ext cx="10744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LEITURA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94960"/>
            <a:ext cx="107442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Latência do pipeline RAG é DOMINADA pelo LLM, não pelo embedding nem pelo store. Local só ganha com GPU. Em CPU pura, OpenAI ganha em batch. Cold start do Xenova é problema em ambiente serverless — irrelevante em backend long-running.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10. BENCH RODADO EM 2026-06-01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Resultado real — latência do Chroma HNSW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6C737D"/>
                </a:solidFill>
                <a:latin typeface="Calibri"/>
              </a:rPr>
              <a:t>200 queries × vetores aleatórios 768d normalizados, contra o chroma-server v1.5.9 local.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1554480"/>
                <a:gridCol w="1554480"/>
                <a:gridCol w="1554480"/>
                <a:gridCol w="19202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Coleção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Docs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32A33"/>
                          </a:solidFill>
                          <a:latin typeface="Calibri"/>
                        </a:rPr>
                        <a:t>report_texts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4.58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5.46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5.99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4.68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32A33"/>
                          </a:solidFill>
                          <a:latin typeface="Calibri"/>
                        </a:rPr>
                        <a:t>metallography_captions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7.943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5.08 ms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6.39 ms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6.97 ms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32A33"/>
                          </a:solidFill>
                          <a:latin typeface="Calibri"/>
                        </a:rPr>
                        <a:t>5.24 ms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657600"/>
            <a:ext cx="11064240" cy="246888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73152" cy="2468880"/>
          </a:xfrm>
          <a:prstGeom prst="rect">
            <a:avLst/>
          </a:prstGeom>
          <a:solidFill>
            <a:srgbClr val="2A6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49040"/>
            <a:ext cx="10744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2A6E39"/>
                </a:solidFill>
                <a:latin typeface="Calibri"/>
              </a:rPr>
              <a:t>CONCLUSÃO SOBRE O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107442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• Passar de 78 para ~8 000 docs adiciona apenas ~0.5 ms p50.
• HNSW NÃO É GARGALO nesta faixa de volume.
• Latência do RAG vai ser dominada por embedding (rede até OpenAI) e LLM gerador.
• Chroma local pode permanecer no roadmap de curto prazo; pgvector é evolução, não urgência.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11. BENCH RODADO EM 2026-06-01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Resultado real — baseline TF-IDF (piso de qualidade)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6C737D"/>
                </a:solidFill>
                <a:latin typeface="Calibri"/>
              </a:rPr>
              <a:t>234 queries do golden sintético × 78 chunks. scikit-learn unigram+bigram, stopwords PT-BR, sublinear TF.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6400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468880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67 % dos relatórios certos no top-5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Recall@10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0.731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+6pp ampliando até top-10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0.604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Posição média do hit ≈ 1.65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0.885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Quando acha, está no topo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Embed latency 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0.42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in-process, sem rede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Search latency p50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0.65 ms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cosine vs 78 docs em memória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874519"/>
            <a:ext cx="4480560" cy="2240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5349240"/>
            <a:ext cx="11064240" cy="100584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349240"/>
            <a:ext cx="73152" cy="100584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40680"/>
            <a:ext cx="10744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44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TF-IDF é um piso conhecido. Qualquer stack neural que não bata isso com folga (≥ +15pp em Recall@5) é REGRESSÃO disfarçada — não justifica custo, complexidade, dependência externa.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12. INSIGHT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Onde TF-IDF brilha — e onde o neural precisa ganhar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6C737D"/>
                </a:solidFill>
                <a:latin typeface="Calibri"/>
              </a:rPr>
              <a:t>Recall@5 do TF-IDF segmentado por tipo de query no golden sintético.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63040"/>
                <a:gridCol w="914400"/>
                <a:gridCol w="4572000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Tipo de query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Comportamento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content.first_sentence (cita frase literal)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Match lexical perfeito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content.dano (keyword de dano)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0.885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Palavra-chave presente no chunk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metadata.tag.danos / conclusao / causa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0.69–0.76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Tag aparece no 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metadata.analise_tag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0.680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Tag + termo técnico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metadata.cliente_unidade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0.308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Cliente/unidade NÃO está no chunk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metadata.equipamento (por nº relatório)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0.120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Nº relatório NÃO está no texto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349240"/>
            <a:ext cx="11064240" cy="109728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349240"/>
            <a:ext cx="73152" cy="1097280"/>
          </a:xfrm>
          <a:prstGeom prst="rect">
            <a:avLst/>
          </a:prstGeom>
          <a:solidFill>
            <a:srgbClr val="2A6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440680"/>
            <a:ext cx="10744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2A6E39"/>
                </a:solidFill>
                <a:latin typeface="Calibri"/>
              </a:rPr>
              <a:t>TRADUÇÃO DO GRÁFICO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715000"/>
            <a:ext cx="10744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O abismo de 100 % → 12 % é EXATAMENTE onde embedding neural deve ganhar: queries que pedem por metadado não presente no texto exigem entendimento semântico. Esse é o teste central da migração — V2/V3/V4 precisam fechar esse gap.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13. RECOMENDAÇÃO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Stack proposta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C84A1E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35608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232A33"/>
                </a:solidFill>
                <a:latin typeface="Calibri"/>
              </a:rPr>
              <a:t>Manter ChromaDB como store no curto prazo; pgvector entra no roadmap (elimina chroma-server Python).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93976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C84A1E"/>
                </a:solidFill>
                <a:latin typeface="Calibri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12264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232A33"/>
                </a:solidFill>
                <a:latin typeface="Calibri"/>
              </a:rPr>
              <a:t>Trocar embedder para text-embedding-3-small com dimensions=768 — compatível com a coleção atual; A/B sem refazer schema.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C84A1E"/>
                </a:solidFill>
                <a:latin typeface="Calibri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8892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232A33"/>
                </a:solidFill>
                <a:latin typeface="Calibri"/>
              </a:rPr>
              <a:t>Manter Xenova/MPNet como fallback feature-flagged — cobre ambientes on-prem e failover OpenAI.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47288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C84A1E"/>
                </a:solidFill>
                <a:latin typeface="Calibri"/>
              </a:rPr>
              <a:t>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465576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232A33"/>
                </a:solidFill>
                <a:latin typeface="Calibri"/>
              </a:rPr>
              <a:t>LLM gerador: começar com gpt-4o-mini (~US$ 0.0008/resposta), medir contra gpt-4.1-mini antes de subir para os modelos completos.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C84A1E"/>
                </a:solidFill>
                <a:latin typeface="Calibri"/>
              </a:rPr>
              <a:t>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42232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232A33"/>
                </a:solidFill>
                <a:latin typeface="Calibri"/>
              </a:rPr>
              <a:t>Pré-condições inegociáveis: DPA assinado + Zero Data Retention habilitado + mascaramento de PII (cliente, contrato, tag) antes do envio.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006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C84A1E"/>
                </a:solidFill>
                <a:latin typeface="Calibri"/>
              </a:rPr>
              <a:t>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18888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232A33"/>
                </a:solidFill>
                <a:latin typeface="Calibri"/>
              </a:rPr>
              <a:t>Resolver o mismatch §4 ANTES da migração — ou indexar coerentemente com vanilla, ou recuperar o fine_tuned_report_model.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77256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C84A1E"/>
                </a:solidFill>
                <a:latin typeface="Calibri"/>
              </a:rPr>
              <a:t>7.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95544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232A33"/>
                </a:solidFill>
                <a:latin typeface="Calibri"/>
              </a:rPr>
              <a:t>Implementar pipeline de ingestão contínua usando Postgres existente — pg-boss ou LISTEN/NOTIFY.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14. DECISÃO OBJETIVA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Critérios de Go / No-Go para Opção B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0F2A4A"/>
                </a:solidFill>
                <a:latin typeface="Calibri"/>
              </a:rPr>
              <a:t>Trocar de MPNet para OpenAI Embeddings SOMENTE se o bench confirmar TODOS os critérios abaixo: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2A6E39"/>
                </a:solidFill>
                <a:latin typeface="Calibri"/>
              </a:rPr>
              <a:t>▸  </a:t>
            </a:r>
            <a:r>
              <a:rPr sz="1600">
                <a:solidFill>
                  <a:srgbClr val="232A33"/>
                </a:solidFill>
                <a:latin typeface="Calibri"/>
              </a:rPr>
              <a:t>Recall@5 do candidato (V2/V3/V4) ≥ +5pp acima do baseline coerente (V1b) no golden sintético.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2A6E39"/>
                </a:solidFill>
                <a:latin typeface="Calibri"/>
              </a:rPr>
              <a:t>▸  </a:t>
            </a:r>
            <a:r>
              <a:rPr sz="1600">
                <a:solidFill>
                  <a:srgbClr val="232A33"/>
                </a:solidFill>
                <a:latin typeface="Calibri"/>
              </a:rPr>
              <a:t>MRR do candidato ≥ +0.05 acima do baseline coerente.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2A6E39"/>
                </a:solidFill>
                <a:latin typeface="Calibri"/>
              </a:rPr>
              <a:t>▸  </a:t>
            </a:r>
            <a:r>
              <a:rPr sz="1600">
                <a:solidFill>
                  <a:srgbClr val="232A33"/>
                </a:solidFill>
                <a:latin typeface="Calibri"/>
              </a:rPr>
              <a:t>p95 de latência end-to-end de embedding + search ≤ 400 ms.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2A6E39"/>
                </a:solidFill>
                <a:latin typeface="Calibri"/>
              </a:rPr>
              <a:t>▸  </a:t>
            </a:r>
            <a:r>
              <a:rPr sz="1600">
                <a:solidFill>
                  <a:srgbClr val="232A33"/>
                </a:solidFill>
                <a:latin typeface="Calibri"/>
              </a:rPr>
              <a:t>DPA assinado + ZDR habilitado + ticket jurídico de mascaramento aprovado.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46320"/>
            <a:ext cx="11064240" cy="146304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73152" cy="146304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10744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CASO ALGUM CRITÉRIO FALHE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12080"/>
            <a:ext cx="107442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Manter Opção A. Revisitar com BGE-m3 ou multilingual-e5-large local — modelos open-source mais novos, gratuitos, geralmente superam MPNet em PT-BR sem custo recorrente nem saída de dados.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15. RISCOS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Riscos e mitigações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132320"/>
              </a:tblGrid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Mitigação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Golden curado humano não fica pronto até a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Usar golden sintético já gerado (234 queries em /bench/golden-set.synthetic.csv) como métrica oficial; substituir quando o humano vier.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OpenAI deprecia modelo (ada-002 já foi)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Pin do modelo + reembed semestral previsto no orçamento (~US$ 0.20 por full rebuild).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Cliente vetar saída de dados após contrato fechado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Feature-flag EMBEDDING_PROVIDER no ChromaService desde o dia 1 — fallback Xenova permanece deployável.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Custo de LLM explodir com adoção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Tracking de tokens por endpoint + alerta acima do P95 esperado.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apps/chroma-server vira gargalo / SPOF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Migrar coleção para pgvector no Postgres existente (libs/db-lib).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Pipeline de fine-tuning é mantido mas asset some de novo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Versionar fine_tuned_report_model em S3 + Git LFS, ou descontinuar formalmente e adotar embedder padrão.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16. BLOQUEIO IDENTIFICADO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Restrição operacional — pendência de TI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137160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3152" cy="1371600"/>
          </a:xfrm>
          <a:prstGeom prst="rect">
            <a:avLst/>
          </a:prstGeom>
          <a:solidFill>
            <a:srgbClr val="B04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44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B04616"/>
                </a:solidFill>
                <a:latin typeface="Calibri"/>
              </a:rPr>
              <a:t>O QUE FOI DETECTADO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20"/>
            <a:ext cx="107442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Tentativa de rodar o bench neural no ambiente de desenvolvimento atual falhou: a política de rede bloqueia saída para huggingface.co e api.openai.com. Sem essas duas saídas, V1a/V1b/V2/V3/V4 não podem ser medidas.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0F2A4A"/>
                </a:solidFill>
                <a:latin typeface="Calibri"/>
              </a:rPr>
              <a:t>Hosts que precisam ser liberados (allowlist)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474720"/>
          <a:ext cx="110642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486400"/>
                <a:gridCol w="2834640"/>
              </a:tblGrid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Host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Para quê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huggingface.co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Download de MPNet vanilla, BGE-m3, e5-multilingual e outros modelos open-source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Uma vez (cache local) — depois pode bloquear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api.openai.com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Embeddings v3 (small/large) + LLM gerador (gpt-4o-mini)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Permanente em prod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solidFill>
            <a:srgbClr val="F5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212080"/>
            <a:ext cx="73152" cy="109728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10744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C84A1E"/>
                </a:solidFill>
                <a:latin typeface="Calibri"/>
              </a:rPr>
              <a:t>ALTERNATIVA IMEDIATA ENQUANTO A TI PROCESSA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77840"/>
            <a:ext cx="10744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232A33"/>
                </a:solidFill>
                <a:latin typeface="Calibri"/>
              </a:rPr>
              <a:t>Rodar o bench numa workstation pessoal desbloqueada. Scripts em apps/chroma-server/bench/ são reproducíveis: ~3 h para gerar V1b/V2/V3/V4 + score + PNGs no mesmo formato dos que já estão neste deck.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17. RESUMO EXECUTIVO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TL;DR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C84A1E"/>
                </a:solidFill>
                <a:latin typeface="Calibri"/>
              </a:rPr>
              <a:t>▸  </a:t>
            </a:r>
            <a:r>
              <a:rPr sz="1400">
                <a:solidFill>
                  <a:srgbClr val="232A33"/>
                </a:solidFill>
                <a:latin typeface="Calibri"/>
              </a:rPr>
              <a:t>Corpus é pequeno (8 021 chunks) e técnico — desafio é precisão semântica, não escala. Custo de embedding é IRRELEVANTE.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C84A1E"/>
                </a:solidFill>
                <a:latin typeface="Calibri"/>
              </a:rPr>
              <a:t>▸  </a:t>
            </a:r>
            <a:r>
              <a:rPr sz="1400">
                <a:solidFill>
                  <a:srgbClr val="232A33"/>
                </a:solidFill>
                <a:latin typeface="Calibri"/>
              </a:rPr>
              <a:t>BUG em produção: índice usa fine_tuned_report_model (fora do repo); query usa Xenova vanilla. Mismatch resolve antes de tudo.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C84A1E"/>
                </a:solidFill>
                <a:latin typeface="Calibri"/>
              </a:rPr>
              <a:t>▸  </a:t>
            </a:r>
            <a:r>
              <a:rPr sz="1400">
                <a:solidFill>
                  <a:srgbClr val="232A33"/>
                </a:solidFill>
                <a:latin typeface="Calibri"/>
              </a:rPr>
              <a:t>Ingestão contínua entra no escopo: pipeline event-driven no Postgres já existente; ~US$ 0.0002 por laudo.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C84A1E"/>
                </a:solidFill>
                <a:latin typeface="Calibri"/>
              </a:rPr>
              <a:t>▸  </a:t>
            </a:r>
            <a:r>
              <a:rPr sz="1400">
                <a:solidFill>
                  <a:srgbClr val="232A33"/>
                </a:solidFill>
                <a:latin typeface="Calibri"/>
              </a:rPr>
              <a:t>Chroma HNSW NÃO é gargalo (medido): p99 = 5.99 ms em 78 docs, 6.97 ms em ~8k docs.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C84A1E"/>
                </a:solidFill>
                <a:latin typeface="Calibri"/>
              </a:rPr>
              <a:t>▸  </a:t>
            </a:r>
            <a:r>
              <a:rPr sz="1400">
                <a:solidFill>
                  <a:srgbClr val="232A33"/>
                </a:solidFill>
                <a:latin typeface="Calibri"/>
              </a:rPr>
              <a:t>TF-IDF entrega Recall@5 = 67 % no sintético — stack neural precisa bater isso com ≥ +15pp.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C84A1E"/>
                </a:solidFill>
                <a:latin typeface="Calibri"/>
              </a:rPr>
              <a:t>▸  </a:t>
            </a:r>
            <a:r>
              <a:rPr sz="1400">
                <a:solidFill>
                  <a:srgbClr val="232A33"/>
                </a:solidFill>
                <a:latin typeface="Calibri"/>
              </a:rPr>
              <a:t>Onde o neural deve ganhar: queries por metadado (12–31 % no TF-IDF) — gap semântico claro.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C84A1E"/>
                </a:solidFill>
                <a:latin typeface="Calibri"/>
              </a:rPr>
              <a:t>▸  </a:t>
            </a:r>
            <a:r>
              <a:rPr sz="1400">
                <a:solidFill>
                  <a:srgbClr val="232A33"/>
                </a:solidFill>
                <a:latin typeface="Calibri"/>
              </a:rPr>
              <a:t>Stack proposta: Chroma → pgvector no roadmap; text-embedding-3-small@768 com fallback Xenova; gpt-4o-mini baseline; DPA + ZDR + mascaramento.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C84A1E"/>
                </a:solidFill>
                <a:latin typeface="Calibri"/>
              </a:rPr>
              <a:t>▸  </a:t>
            </a:r>
            <a:r>
              <a:rPr sz="1400">
                <a:solidFill>
                  <a:srgbClr val="232A33"/>
                </a:solidFill>
                <a:latin typeface="Calibri"/>
              </a:rPr>
              <a:t>Bloqueio: TI precisa liberar huggingface.co e api.openai.com para completar o bench neural antes da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C84A1E"/>
                </a:solidFill>
                <a:latin typeface="Calibri"/>
              </a:rPr>
              <a:t>18. PLANO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0F2A4A"/>
                </a:solidFill>
                <a:latin typeface="Calibri"/>
              </a:rPr>
              <a:t>Próximos passos concretos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201400" cy="20000"/>
          </a:xfrm>
          <a:prstGeom prst="rect">
            <a:avLst/>
          </a:prstGeom>
          <a:solidFill>
            <a:srgbClr val="6C7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36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5943599"/>
                <a:gridCol w="1645919"/>
                <a:gridCol w="2926079"/>
              </a:tblGrid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Esforço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Bloqueia</a:t>
                      </a:r>
                    </a:p>
                  </a:txBody>
                  <a:tcPr>
                    <a:solidFill>
                      <a:srgbClr val="0F2A4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Pedir TI a liberação de huggingface.co + api.openai.com (allowlist)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discussão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Bench neural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Rodar prepare.py + run-queries-local.py / run-queries.ts + score.py com OPENAI_API_KEY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~3 h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Apresentação completa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Decidir destino do fine_tuned_report_model (manter, descontinuar, versionar em S3 + LFS)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discussão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Stack final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Implementar pipeline de ingestão contínua (§5)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3–5 dias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Produção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Curar 50–100 pares humanos do golden set com o time de domínio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depende do domínio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Validação final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32A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Assinar DPA OpenAI + habilitar Zero Data Retention + plano de mascaramento de PII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jurídico + dev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32A33"/>
                          </a:solidFill>
                          <a:latin typeface="Calibri"/>
                        </a:rPr>
                        <a:t>Produção c/ dados reais</a:t>
                      </a:r>
                    </a:p>
                  </a:txBody>
                  <a:tcPr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6C737D"/>
                </a:solidFill>
                <a:latin typeface="Calibri"/>
              </a:rPr>
              <a:t>Documento completo: references/ANALISE_VECTOR_STORE.md  •  Scripts: apps/chroma-server/bench/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6C737D"/>
                </a:solidFill>
                <a:latin typeface="Calibri"/>
              </a:rPr>
              <a:t>Análise técnica — Stack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6C737D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C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Perguntas?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E0DED0"/>
                </a:solidFill>
                <a:latin typeface="Calibri"/>
              </a:rPr>
              <a:t>Branch: claude/eloquent-pasteur-hMz2o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E0DED0"/>
                </a:solidFill>
                <a:latin typeface="Calibri"/>
              </a:rPr>
              <a:t>Documento técnico: references/ANALISE_VECTOR_STORE.md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E0DED0"/>
                </a:solidFill>
                <a:latin typeface="Calibri"/>
              </a:rPr>
              <a:t>Bench: apps/chroma-server/bench/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